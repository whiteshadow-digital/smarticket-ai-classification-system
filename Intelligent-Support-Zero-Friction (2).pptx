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g"/>
  <Default Extension="m4v" ContentType="video/mp4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slides/slide3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embeddedFontLst>
    <p:embeddedFont>
      <p:font typeface="Barlow SemiBold"/>
      <p:regular r:id="rId201314"/>
    </p:embeddedFont>
    <p:embeddedFont>
      <p:font typeface="Barlow Thin"/>
      <p:regular r:id="rId201315"/>
    </p:embeddedFont>
    <p:embeddedFont>
      <p:font typeface="Barlow ExtraLight"/>
      <p:regular r:id="rId201316"/>
    </p:embeddedFont>
    <p:embeddedFont>
      <p:font typeface="Barlow Light"/>
      <p:regular r:id="rId201317"/>
    </p:embeddedFont>
    <p:embeddedFont>
      <p:font typeface="Barlow"/>
      <p:regular r:id="rId201318"/>
    </p:embeddedFont>
    <p:embeddedFont>
      <p:font typeface="Barlow Medium"/>
      <p:regular r:id="rId201319"/>
    </p:embeddedFont>
    <p:embeddedFont>
      <p:font typeface="Barlow Bold"/>
      <p:regular r:id="rId201320"/>
    </p:embeddedFont>
    <p:embeddedFont>
      <p:font typeface="Barlow ExtraBold"/>
      <p:regular r:id="rId201321"/>
    </p:embeddedFont>
    <p:embeddedFont>
      <p:font typeface="Barlow Black"/>
      <p:regular r:id="rId201322"/>
    </p:embeddedFont>
    <p:embeddedFont>
      <p:font typeface="Spline Sans Medium"/>
      <p:regular r:id="rId201323"/>
    </p:embeddedFont>
    <p:embeddedFont>
      <p:font typeface="Spline Sans SemiBold"/>
      <p:regular r:id="rId201324"/>
    </p:embeddedFont>
    <p:embeddedFont>
      <p:font typeface="Spline Sans Bold"/>
      <p:regular r:id="rId201325"/>
    </p:embeddedFont>
    <p:embeddedFont>
      <p:font typeface="Spline Sans Light"/>
      <p:regular r:id="rId201326"/>
    </p:embeddedFont>
    <p:embeddedFont>
      <p:font typeface="Spline Sans"/>
      <p:regular r:id="rId20132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201332" Type="http://schemas.openxmlformats.org/officeDocument/2006/relationships/customXml" Target="../customXml/item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01319" Type="http://schemas.openxmlformats.org/officeDocument/2006/relationships/font" Target="fonts/201319.fntdata"/><Relationship Id="rId201327" Type="http://schemas.openxmlformats.org/officeDocument/2006/relationships/font" Target="fonts/201327.fntdata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1314" Type="http://schemas.openxmlformats.org/officeDocument/2006/relationships/font" Target="fonts/201314.fntdata"/><Relationship Id="rId201322" Type="http://schemas.openxmlformats.org/officeDocument/2006/relationships/font" Target="fonts/201322.fntdata"/><Relationship Id="rId201330" Type="http://schemas.openxmlformats.org/officeDocument/2006/relationships/font" Target="fonts/20133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01318" Type="http://schemas.openxmlformats.org/officeDocument/2006/relationships/font" Target="fonts/201318.fntdata"/><Relationship Id="rId201326" Type="http://schemas.openxmlformats.org/officeDocument/2006/relationships/font" Target="fonts/201326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201317" Type="http://schemas.openxmlformats.org/officeDocument/2006/relationships/font" Target="fonts/201317.fntdata"/><Relationship Id="rId201321" Type="http://schemas.openxmlformats.org/officeDocument/2006/relationships/font" Target="fonts/201321.fntdata"/><Relationship Id="rId10" Type="http://schemas.openxmlformats.org/officeDocument/2006/relationships/slide" Target="slides/slide9.xml"/><Relationship Id="rId201320" Type="http://schemas.openxmlformats.org/officeDocument/2006/relationships/font" Target="fonts/201320.fntdata"/><Relationship Id="rId201325" Type="http://schemas.openxmlformats.org/officeDocument/2006/relationships/font" Target="fonts/201325.fntdata"/><Relationship Id="rId201333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01316" Type="http://schemas.openxmlformats.org/officeDocument/2006/relationships/font" Target="fonts/201316.fntdata"/><Relationship Id="rId201324" Type="http://schemas.openxmlformats.org/officeDocument/2006/relationships/font" Target="fonts/201324.fntdata"/><Relationship Id="rId201329" Type="http://schemas.openxmlformats.org/officeDocument/2006/relationships/font" Target="fonts/201329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201315" Type="http://schemas.openxmlformats.org/officeDocument/2006/relationships/font" Target="fonts/201315.fntdata"/><Relationship Id="rId201323" Type="http://schemas.openxmlformats.org/officeDocument/2006/relationships/font" Target="fonts/201323.fntdata"/><Relationship Id="rId201328" Type="http://schemas.openxmlformats.org/officeDocument/2006/relationships/font" Target="fonts/201328.fntdata"/><Relationship Id="rId201331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Conclude by reiterating the core message: SmartTicket AI is built for a future of intelligent, friction-free support.
Open the floor for questions and provide contact information.
Express enthusiasm for potential collaboration.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4.png"/><Relationship Id="rId5" Type="http://schemas.openxmlformats.org/officeDocument/2006/relationships/image" Target="../media/image-7-5.svg"/><Relationship Id="rId6" Type="http://schemas.openxmlformats.org/officeDocument/2006/relationships/image" Target="../media/image-7-6.png"/><Relationship Id="rId7" Type="http://schemas.openxmlformats.org/officeDocument/2006/relationships/image" Target="../media/image-7-7.svg"/><Relationship Id="rId8" Type="http://schemas.openxmlformats.org/officeDocument/2006/relationships/image" Target="../media/image-7-8.png"/><Relationship Id="rId9" Type="http://schemas.openxmlformats.org/officeDocument/2006/relationships/image" Target="../media/image-7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jpeg"/><Relationship Id="rId3" Type="http://schemas.openxmlformats.org/officeDocument/2006/relationships/image" Target="../media/image-8-3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svg"/><Relationship Id="rId4" Type="http://schemas.openxmlformats.org/officeDocument/2006/relationships/image" Target="../media/image-11-4.png"/><Relationship Id="rId5" Type="http://schemas.openxmlformats.org/officeDocument/2006/relationships/image" Target="../media/image-11-5.svg"/><Relationship Id="rId6" Type="http://schemas.openxmlformats.org/officeDocument/2006/relationships/image" Target="../media/image-11-6.png"/><Relationship Id="rId7" Type="http://schemas.openxmlformats.org/officeDocument/2006/relationships/image" Target="../media/image-11-7.svg"/><Relationship Id="rId8" Type="http://schemas.openxmlformats.org/officeDocument/2006/relationships/image" Target="../media/image-11-8.png"/><Relationship Id="rId9" Type="http://schemas.openxmlformats.org/officeDocument/2006/relationships/image" Target="../media/image-11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34200" y="1313755"/>
            <a:ext cx="2417305" cy="318790"/>
          </a:xfrm>
          <a:prstGeom prst="roundRect">
            <a:avLst>
              <a:gd name="adj" fmla="val 49999"/>
            </a:avLst>
          </a:prstGeom>
          <a:solidFill>
            <a:srgbClr val="004D36"/>
          </a:solidFill>
          <a:ln/>
        </p:spPr>
      </p:sp>
      <p:sp>
        <p:nvSpPr>
          <p:cNvPr id="4" name="Text 1"/>
          <p:cNvSpPr/>
          <p:nvPr/>
        </p:nvSpPr>
        <p:spPr>
          <a:xfrm>
            <a:off x="860007" y="1376660"/>
            <a:ext cx="2775277" cy="192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SPONSORSHIP OPPORTUNITY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34200" y="1716385"/>
            <a:ext cx="6151409" cy="582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SmartTicket AI</a:t>
            </a:r>
            <a:endParaRPr lang="en-US" sz="3650" dirty="0"/>
          </a:p>
        </p:txBody>
      </p:sp>
      <p:sp>
        <p:nvSpPr>
          <p:cNvPr id="6" name="Text 3"/>
          <p:cNvSpPr/>
          <p:nvPr/>
        </p:nvSpPr>
        <p:spPr>
          <a:xfrm>
            <a:off x="734200" y="2613720"/>
            <a:ext cx="6151409" cy="16085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0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Intelligent Support. Zero Friction.</a:t>
            </a:r>
            <a:endParaRPr lang="en-US" sz="5050" dirty="0"/>
          </a:p>
        </p:txBody>
      </p:sp>
      <p:sp>
        <p:nvSpPr>
          <p:cNvPr id="7" name="Text 4"/>
          <p:cNvSpPr/>
          <p:nvPr/>
        </p:nvSpPr>
        <p:spPr>
          <a:xfrm>
            <a:off x="734200" y="4536877"/>
            <a:ext cx="6151409" cy="10072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An AI-powered ticketing platform that understands your employees, routes requests automatically, and keeps every team informed — in real time.</a:t>
            </a:r>
            <a:endParaRPr lang="en-US" sz="1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306086" y="845046"/>
            <a:ext cx="1254590" cy="302816"/>
          </a:xfrm>
          <a:prstGeom prst="roundRect">
            <a:avLst>
              <a:gd name="adj" fmla="val 49999"/>
            </a:avLst>
          </a:prstGeom>
          <a:noFill/>
          <a:ln w="19050">
            <a:solidFill>
              <a:srgbClr val="16FFB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425642" y="904776"/>
            <a:ext cx="1625063" cy="1833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50" dirty="0">
                <a:solidFill>
                  <a:srgbClr val="16FFB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PROBLEM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306086" y="1223566"/>
            <a:ext cx="6151409" cy="1107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Manual Ticketing Is Costing You Time and Accuracy</a:t>
            </a:r>
            <a:endParaRPr lang="en-US" sz="3450" dirty="0"/>
          </a:p>
        </p:txBody>
      </p:sp>
      <p:sp>
        <p:nvSpPr>
          <p:cNvPr id="6" name="Shape 3"/>
          <p:cNvSpPr/>
          <p:nvPr/>
        </p:nvSpPr>
        <p:spPr>
          <a:xfrm>
            <a:off x="5306086" y="2614811"/>
            <a:ext cx="2981052" cy="1759843"/>
          </a:xfrm>
          <a:prstGeom prst="roundRect">
            <a:avLst>
              <a:gd name="adj" fmla="val 16988"/>
            </a:avLst>
          </a:prstGeom>
          <a:solidFill>
            <a:srgbClr val="0A081B"/>
          </a:solidFill>
          <a:ln w="19050">
            <a:solidFill>
              <a:srgbClr val="16FFB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524362" y="2833092"/>
            <a:ext cx="2544500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Misrouted Requests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5524362" y="3223518"/>
            <a:ext cx="2544500" cy="9328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Employees choose the wrong department, causing delays and frustration.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8476443" y="2614811"/>
            <a:ext cx="2981052" cy="1759843"/>
          </a:xfrm>
          <a:prstGeom prst="roundRect">
            <a:avLst>
              <a:gd name="adj" fmla="val 16988"/>
            </a:avLst>
          </a:prstGeom>
          <a:solidFill>
            <a:srgbClr val="0A081B"/>
          </a:solidFill>
          <a:ln w="19050">
            <a:solidFill>
              <a:srgbClr val="29DDD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94718" y="2833092"/>
            <a:ext cx="2544500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Administrative Overload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694718" y="3223518"/>
            <a:ext cx="2544500" cy="9328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Support staff spend hours manually sorting and reassigning tickets.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5306086" y="4563963"/>
            <a:ext cx="6151409" cy="1448891"/>
          </a:xfrm>
          <a:prstGeom prst="roundRect">
            <a:avLst>
              <a:gd name="adj" fmla="val 20634"/>
            </a:avLst>
          </a:prstGeom>
          <a:solidFill>
            <a:srgbClr val="0A081B"/>
          </a:solidFill>
          <a:ln w="19050">
            <a:solidFill>
              <a:srgbClr val="37A7E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524362" y="4782245"/>
            <a:ext cx="5714857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No Visibility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5524362" y="5172670"/>
            <a:ext cx="5714857" cy="621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Without tracking or history, recurring issues go unnoticed and unresolved.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777577"/>
            <a:ext cx="10723294" cy="524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Eight-Week Sprint Execution Roadmap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734200" y="1641872"/>
            <a:ext cx="11332879" cy="286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4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Eight sprints evolved the platform from foundational architecture to intelligent enterprise automation.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734200" y="4387056"/>
            <a:ext cx="10723294" cy="25400"/>
          </a:xfrm>
          <a:prstGeom prst="roundRect">
            <a:avLst>
              <a:gd name="adj" fmla="val 49999"/>
            </a:avLst>
          </a:prstGeom>
          <a:solidFill>
            <a:srgbClr val="FFFFFF">
              <a:alpha val="2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437843" y="3820616"/>
            <a:ext cx="25399" cy="566440"/>
          </a:xfrm>
          <a:prstGeom prst="roundRect">
            <a:avLst>
              <a:gd name="adj" fmla="val 50001"/>
            </a:avLst>
          </a:prstGeom>
          <a:solidFill>
            <a:srgbClr val="16FFBB"/>
          </a:solidFill>
          <a:ln/>
        </p:spPr>
      </p:sp>
      <p:sp>
        <p:nvSpPr>
          <p:cNvPr id="6" name="Shape 4"/>
          <p:cNvSpPr/>
          <p:nvPr/>
        </p:nvSpPr>
        <p:spPr>
          <a:xfrm>
            <a:off x="2238121" y="4174629"/>
            <a:ext cx="424844" cy="424855"/>
          </a:xfrm>
          <a:prstGeom prst="ellipse">
            <a:avLst/>
          </a:prstGeom>
          <a:solidFill>
            <a:srgbClr val="0A081B"/>
          </a:solidFill>
          <a:ln w="19050">
            <a:solidFill>
              <a:srgbClr val="16FF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24687" y="4229745"/>
            <a:ext cx="251712" cy="3146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1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923009" y="2119908"/>
            <a:ext cx="3055167" cy="262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Weeks 1–2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923009" y="2484041"/>
            <a:ext cx="3055167" cy="1147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7000"/>
              </a:lnSpc>
              <a:buNone/>
            </a:pPr>
            <a:r>
              <a:rPr lang="en-US" sz="14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Project scoping, Firebase environment setup, and core architecture design, next.js frontend build and Firestore schema definition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260446" y="4387056"/>
            <a:ext cx="25399" cy="566440"/>
          </a:xfrm>
          <a:prstGeom prst="roundRect">
            <a:avLst>
              <a:gd name="adj" fmla="val 50001"/>
            </a:avLst>
          </a:prstGeom>
          <a:solidFill>
            <a:srgbClr val="29DDDA"/>
          </a:solidFill>
          <a:ln/>
        </p:spPr>
      </p:sp>
      <p:sp>
        <p:nvSpPr>
          <p:cNvPr id="11" name="Shape 9"/>
          <p:cNvSpPr/>
          <p:nvPr/>
        </p:nvSpPr>
        <p:spPr>
          <a:xfrm>
            <a:off x="4060723" y="4174629"/>
            <a:ext cx="424844" cy="424855"/>
          </a:xfrm>
          <a:prstGeom prst="ellipse">
            <a:avLst/>
          </a:prstGeom>
          <a:solidFill>
            <a:srgbClr val="0A081B"/>
          </a:solidFill>
          <a:ln w="19050">
            <a:solidFill>
              <a:srgbClr val="29DD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47290" y="4229745"/>
            <a:ext cx="251712" cy="3146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2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2745612" y="5142309"/>
            <a:ext cx="3055167" cy="262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Weeks 3–4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2745612" y="5506442"/>
            <a:ext cx="3055167" cy="573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7000"/>
              </a:lnSpc>
              <a:buNone/>
            </a:pPr>
            <a:r>
              <a:rPr lang="en-US" sz="14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Data tracking &amp; analytics module, Weekly Business Report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083049" y="3820616"/>
            <a:ext cx="25399" cy="566440"/>
          </a:xfrm>
          <a:prstGeom prst="roundRect">
            <a:avLst>
              <a:gd name="adj" fmla="val 50001"/>
            </a:avLst>
          </a:prstGeom>
          <a:solidFill>
            <a:srgbClr val="37A7E7"/>
          </a:solidFill>
          <a:ln/>
        </p:spPr>
      </p:sp>
      <p:sp>
        <p:nvSpPr>
          <p:cNvPr id="16" name="Shape 14"/>
          <p:cNvSpPr/>
          <p:nvPr/>
        </p:nvSpPr>
        <p:spPr>
          <a:xfrm>
            <a:off x="5883326" y="4174629"/>
            <a:ext cx="424844" cy="424855"/>
          </a:xfrm>
          <a:prstGeom prst="ellipse">
            <a:avLst/>
          </a:prstGeom>
          <a:solidFill>
            <a:srgbClr val="0A081B"/>
          </a:solidFill>
          <a:ln w="19050">
            <a:solidFill>
              <a:srgbClr val="37A7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69892" y="4229745"/>
            <a:ext cx="251712" cy="3146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3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4568215" y="2119908"/>
            <a:ext cx="3055167" cy="262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Weeks 5–6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4568215" y="2484041"/>
            <a:ext cx="3055167" cy="573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7000"/>
              </a:lnSpc>
              <a:buNone/>
            </a:pPr>
            <a:r>
              <a:rPr lang="en-US" sz="14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Add Predictive Insights and Compliance Status feature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7905651" y="4387056"/>
            <a:ext cx="25399" cy="566440"/>
          </a:xfrm>
          <a:prstGeom prst="roundRect">
            <a:avLst>
              <a:gd name="adj" fmla="val 50001"/>
            </a:avLst>
          </a:prstGeom>
          <a:solidFill>
            <a:srgbClr val="091231"/>
          </a:solidFill>
          <a:ln/>
        </p:spPr>
      </p:sp>
      <p:sp>
        <p:nvSpPr>
          <p:cNvPr id="21" name="Shape 19"/>
          <p:cNvSpPr/>
          <p:nvPr/>
        </p:nvSpPr>
        <p:spPr>
          <a:xfrm>
            <a:off x="7705929" y="4174629"/>
            <a:ext cx="424844" cy="424855"/>
          </a:xfrm>
          <a:prstGeom prst="ellipse">
            <a:avLst/>
          </a:prstGeom>
          <a:solidFill>
            <a:srgbClr val="0A081B"/>
          </a:solidFill>
          <a:ln w="19050">
            <a:solidFill>
              <a:srgbClr val="09123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92495" y="4229745"/>
            <a:ext cx="251712" cy="3146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4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6390817" y="5142309"/>
            <a:ext cx="3055167" cy="262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Week 7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6390817" y="5506442"/>
            <a:ext cx="3055167" cy="573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7000"/>
              </a:lnSpc>
              <a:buNone/>
            </a:pPr>
            <a:r>
              <a:rPr lang="en-US" sz="14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Automated routing, email alerts, and multi-stage approvals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9728354" y="3820616"/>
            <a:ext cx="25399" cy="566440"/>
          </a:xfrm>
          <a:prstGeom prst="roundRect">
            <a:avLst>
              <a:gd name="adj" fmla="val 50001"/>
            </a:avLst>
          </a:prstGeom>
          <a:solidFill>
            <a:srgbClr val="16FFBB"/>
          </a:solidFill>
          <a:ln/>
        </p:spPr>
      </p:sp>
      <p:sp>
        <p:nvSpPr>
          <p:cNvPr id="26" name="Shape 24"/>
          <p:cNvSpPr/>
          <p:nvPr/>
        </p:nvSpPr>
        <p:spPr>
          <a:xfrm>
            <a:off x="9528631" y="4174629"/>
            <a:ext cx="424844" cy="424855"/>
          </a:xfrm>
          <a:prstGeom prst="ellipse">
            <a:avLst/>
          </a:prstGeom>
          <a:solidFill>
            <a:srgbClr val="0A081B"/>
          </a:solidFill>
          <a:ln w="19050">
            <a:solidFill>
              <a:srgbClr val="16FFB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15197" y="4229745"/>
            <a:ext cx="251712" cy="3146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5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8213420" y="2119908"/>
            <a:ext cx="3055266" cy="262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Week 8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8213420" y="2484041"/>
            <a:ext cx="3055266" cy="573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7000"/>
              </a:lnSpc>
              <a:buNone/>
            </a:pPr>
            <a:r>
              <a:rPr lang="en-US" sz="14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Production deployment, validation testing, and documentation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4200" y="621804"/>
            <a:ext cx="1510072" cy="266601"/>
          </a:xfrm>
          <a:prstGeom prst="roundRect">
            <a:avLst>
              <a:gd name="adj" fmla="val 49999"/>
            </a:avLst>
          </a:prstGeom>
          <a:solidFill>
            <a:srgbClr val="004D36"/>
          </a:solidFill>
          <a:ln/>
        </p:spPr>
      </p:sp>
      <p:sp>
        <p:nvSpPr>
          <p:cNvPr id="3" name="Text 1"/>
          <p:cNvSpPr/>
          <p:nvPr/>
        </p:nvSpPr>
        <p:spPr>
          <a:xfrm>
            <a:off x="839469" y="674390"/>
            <a:ext cx="1909119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CORE INTELLIGENCE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4200" y="947142"/>
            <a:ext cx="10723294" cy="48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AI That Understands, Not Just Keywords</a:t>
            </a:r>
            <a:endParaRPr lang="en-US" sz="30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5759" y="2303066"/>
            <a:ext cx="5797107" cy="328503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88993" y="1801912"/>
            <a:ext cx="3474752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Natural Language Processing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988993" y="2192536"/>
            <a:ext cx="3474752" cy="10314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Employees describe issues in plain English. SmartTicket AI understands intent and context — not just keywords — making it accessible to everyone.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988993" y="3370858"/>
            <a:ext cx="3474752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AI-Powered Classification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988993" y="3761482"/>
            <a:ext cx="3474752" cy="10314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system analyses each complaint and automatically identifies the most appropriate department, eliminating manual routing entirely.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988993" y="4939804"/>
            <a:ext cx="3474752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Confidence Score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988993" y="5330428"/>
            <a:ext cx="3474752" cy="773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Every classification includes a confidence indicator, helping administrators decide whether to review a ticket before processing.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4200" y="984052"/>
            <a:ext cx="1400636" cy="302816"/>
          </a:xfrm>
          <a:prstGeom prst="roundRect">
            <a:avLst>
              <a:gd name="adj" fmla="val 49999"/>
            </a:avLst>
          </a:prstGeom>
          <a:solidFill>
            <a:srgbClr val="004D36"/>
          </a:solidFill>
          <a:ln/>
        </p:spPr>
      </p:sp>
      <p:sp>
        <p:nvSpPr>
          <p:cNvPr id="3" name="Text 1"/>
          <p:cNvSpPr/>
          <p:nvPr/>
        </p:nvSpPr>
        <p:spPr>
          <a:xfrm>
            <a:off x="853756" y="1043781"/>
            <a:ext cx="1771110" cy="1833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SMART ROUTING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34200" y="1362571"/>
            <a:ext cx="10723294" cy="553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Every Request Reaches the Right Team — Instantly</a:t>
            </a:r>
            <a:endParaRPr lang="en-US" sz="34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4200" y="2200176"/>
            <a:ext cx="398552" cy="39856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4200" y="2835374"/>
            <a:ext cx="5243282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IT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34200" y="3225800"/>
            <a:ext cx="5243282" cy="621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Technical issues, hardware requests, and system access routed automatically.</a:t>
            </a:r>
            <a:endParaRPr lang="en-US" sz="15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14113" y="2200176"/>
            <a:ext cx="398552" cy="39856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214113" y="2835374"/>
            <a:ext cx="5243381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Human Resources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6214113" y="3225800"/>
            <a:ext cx="5243381" cy="621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Leave requests, policy questions, and onboarding handled without delay.</a:t>
            </a:r>
            <a:endParaRPr lang="en-US" sz="15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4200" y="4226322"/>
            <a:ext cx="398552" cy="39856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34200" y="4861520"/>
            <a:ext cx="5243282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Finance</a:t>
            </a:r>
            <a:endParaRPr lang="en-US" sz="1700" dirty="0"/>
          </a:p>
        </p:txBody>
      </p:sp>
      <p:sp>
        <p:nvSpPr>
          <p:cNvPr id="13" name="Text 8"/>
          <p:cNvSpPr/>
          <p:nvPr/>
        </p:nvSpPr>
        <p:spPr>
          <a:xfrm>
            <a:off x="734200" y="5251946"/>
            <a:ext cx="5243282" cy="621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Expense claims, invoicing queries, and budget approvals directed correctly.</a:t>
            </a:r>
            <a:endParaRPr lang="en-US" sz="15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14113" y="4226322"/>
            <a:ext cx="398552" cy="39856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214113" y="4861520"/>
            <a:ext cx="5243381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Operations</a:t>
            </a:r>
            <a:endParaRPr lang="en-US" sz="1700" dirty="0"/>
          </a:p>
        </p:txBody>
      </p:sp>
      <p:sp>
        <p:nvSpPr>
          <p:cNvPr id="16" name="Text 10"/>
          <p:cNvSpPr/>
          <p:nvPr/>
        </p:nvSpPr>
        <p:spPr>
          <a:xfrm>
            <a:off x="6214113" y="5251946"/>
            <a:ext cx="5243381" cy="621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Facilities, logistics, and general operational requests reach the right team.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4200" y="587573"/>
            <a:ext cx="1690447" cy="258167"/>
          </a:xfrm>
          <a:prstGeom prst="roundRect">
            <a:avLst>
              <a:gd name="adj" fmla="val 49999"/>
            </a:avLst>
          </a:prstGeom>
          <a:solidFill>
            <a:srgbClr val="004D36"/>
          </a:solidFill>
          <a:ln/>
        </p:spPr>
      </p:sp>
      <p:sp>
        <p:nvSpPr>
          <p:cNvPr id="3" name="Text 1"/>
          <p:cNvSpPr/>
          <p:nvPr/>
        </p:nvSpPr>
        <p:spPr>
          <a:xfrm>
            <a:off x="836095" y="638473"/>
            <a:ext cx="2096241" cy="156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AWARENESS &amp; CONTROL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4200" y="900807"/>
            <a:ext cx="10723294" cy="472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Tone Detection, Status Tracking &amp; Notifications</a:t>
            </a:r>
            <a:endParaRPr lang="en-US" sz="2950" dirty="0"/>
          </a:p>
        </p:txBody>
      </p:sp>
      <p:sp>
        <p:nvSpPr>
          <p:cNvPr id="5" name="Text 3"/>
          <p:cNvSpPr/>
          <p:nvPr/>
        </p:nvSpPr>
        <p:spPr>
          <a:xfrm>
            <a:off x="734200" y="2372519"/>
            <a:ext cx="5154285" cy="2359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Tone &amp; Urgency Detection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34200" y="2746077"/>
            <a:ext cx="5154285" cy="738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SmartTicket AI identifies whether a ticket is </a:t>
            </a:r>
            <a:pPr algn="l" indent="0" marL="0">
              <a:lnSpc>
                <a:spcPct val="121000"/>
              </a:lnSpc>
              <a:buNone/>
            </a:pPr>
            <a:r>
              <a:rPr lang="en-US" sz="13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formal, friendly, or urgent</a:t>
            </a:r>
            <a:pPr algn="l" indent="0" marL="0">
              <a:lnSpc>
                <a:spcPct val="1210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— enabling departments to prioritise critical issues before they escalate.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4200" y="3621881"/>
            <a:ext cx="5154285" cy="2359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Ticket Status Tracking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34200" y="3995440"/>
            <a:ext cx="5154285" cy="492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Employees and admins monitor progress through clear stages: </a:t>
            </a:r>
            <a:pPr algn="l" indent="0" marL="0">
              <a:lnSpc>
                <a:spcPct val="121000"/>
              </a:lnSpc>
              <a:buNone/>
            </a:pPr>
            <a:r>
              <a:rPr lang="en-US" sz="13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Open → In Progress → Awaiting Information → Resolved → Closed.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4200" y="4625181"/>
            <a:ext cx="5154285" cy="2359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Email Notifications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34200" y="4998740"/>
            <a:ext cx="5154285" cy="492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Automated alerts keep everyone informed at every stage — submission, assignment, status changes, and resolution.</a:t>
            </a:r>
            <a:endParaRPr lang="en-US" sz="13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559" y="1734245"/>
            <a:ext cx="4381093" cy="438120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306086" y="637183"/>
            <a:ext cx="1113603" cy="239018"/>
          </a:xfrm>
          <a:prstGeom prst="roundRect">
            <a:avLst>
              <a:gd name="adj" fmla="val 49999"/>
            </a:avLst>
          </a:prstGeom>
          <a:noFill/>
          <a:ln w="12700">
            <a:solidFill>
              <a:srgbClr val="16FFB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400441" y="684312"/>
            <a:ext cx="1534479" cy="144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50" dirty="0">
                <a:solidFill>
                  <a:srgbClr val="16FFB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ADMIN CONTROL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306086" y="923330"/>
            <a:ext cx="6151409" cy="437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One Dashboard. Complete Oversight.</a:t>
            </a:r>
            <a:endParaRPr lang="en-US" sz="2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06086" y="1537395"/>
            <a:ext cx="6151409" cy="108237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558591" y="1713706"/>
            <a:ext cx="5722596" cy="218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Centralised Ticket View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5558591" y="2002929"/>
            <a:ext cx="5722596" cy="440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View all submitted tickets, filter by department, and monitor live statuses from a single interface.</a:t>
            </a:r>
            <a:endParaRPr lang="en-US" sz="12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06086" y="2737743"/>
            <a:ext cx="6151409" cy="108237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558591" y="2914055"/>
            <a:ext cx="5722596" cy="218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AI Confidence Review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5558591" y="3203277"/>
            <a:ext cx="5722596" cy="440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Review low-confidence classifications before processing, ensuring accuracy where it matters most.</a:t>
            </a:r>
            <a:endParaRPr lang="en-US" sz="12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06086" y="3938091"/>
            <a:ext cx="6151409" cy="108237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558591" y="4114403"/>
            <a:ext cx="5722596" cy="218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Searchable Ticket History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5558591" y="4403626"/>
            <a:ext cx="5722596" cy="440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Maintain a complete, organised record of all requests — making it easy to identify recurring issues and measure team performance over time.</a:t>
            </a:r>
            <a:endParaRPr lang="en-US" sz="12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306086" y="5138440"/>
            <a:ext cx="6151409" cy="1082377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558591" y="5314752"/>
            <a:ext cx="5722596" cy="218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Manage &amp; Update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5558591" y="5603974"/>
            <a:ext cx="5722596" cy="440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Assign, reassign, and update tickets in real time with full audit trails stored securely in Firebase Firestore.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591344"/>
            <a:ext cx="10723294" cy="430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34200" y="1295896"/>
            <a:ext cx="4339124" cy="2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847905" y="1295896"/>
            <a:ext cx="7225425" cy="2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4200" y="1845568"/>
            <a:ext cx="3931742" cy="2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4200" y="2189460"/>
            <a:ext cx="2447566" cy="2773958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0523" y="1871266"/>
            <a:ext cx="2491618" cy="394860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440523" y="5948462"/>
            <a:ext cx="3931742" cy="2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endParaRPr lang="en-US" sz="12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6846" y="1871266"/>
            <a:ext cx="2447566" cy="303907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4200" y="730151"/>
            <a:ext cx="1362835" cy="270966"/>
          </a:xfrm>
          <a:prstGeom prst="roundRect">
            <a:avLst>
              <a:gd name="adj" fmla="val 49999"/>
            </a:avLst>
          </a:prstGeom>
          <a:solidFill>
            <a:srgbClr val="004D36"/>
          </a:solidFill>
          <a:ln/>
        </p:spPr>
      </p:sp>
      <p:sp>
        <p:nvSpPr>
          <p:cNvPr id="3" name="Text 1"/>
          <p:cNvSpPr/>
          <p:nvPr/>
        </p:nvSpPr>
        <p:spPr>
          <a:xfrm>
            <a:off x="841156" y="783630"/>
            <a:ext cx="1758509" cy="1640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BUSINESS IMPACT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4200" y="1061740"/>
            <a:ext cx="10723294" cy="495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Measurable Gains From Day One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1129180" y="1873448"/>
            <a:ext cx="4476836" cy="588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0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34200" y="2664619"/>
            <a:ext cx="5266896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Manual Sorting Steps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34200" y="3003153"/>
            <a:ext cx="5266896" cy="263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AI eliminates ticket categorisation workload entirely.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585480" y="1873448"/>
            <a:ext cx="4476936" cy="588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4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6190500" y="2664619"/>
            <a:ext cx="5266995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Departments Covered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190500" y="3003153"/>
            <a:ext cx="5266995" cy="263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IT, HR, Finance, and Operations — all connected from one platform.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29180" y="3659187"/>
            <a:ext cx="4476836" cy="588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5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734200" y="4450358"/>
            <a:ext cx="5266896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Status Stages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34200" y="4788892"/>
            <a:ext cx="5266896" cy="263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Full lifecycle tracking from submission to resolution.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85480" y="3659187"/>
            <a:ext cx="4476936" cy="588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24/7</a:t>
            </a:r>
            <a:endParaRPr lang="en-US" sz="4600" dirty="0"/>
          </a:p>
        </p:txBody>
      </p:sp>
      <p:sp>
        <p:nvSpPr>
          <p:cNvPr id="15" name="Text 13"/>
          <p:cNvSpPr/>
          <p:nvPr/>
        </p:nvSpPr>
        <p:spPr>
          <a:xfrm>
            <a:off x="6190500" y="4450358"/>
            <a:ext cx="5266995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Real-Time Updates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190500" y="4788892"/>
            <a:ext cx="5266995" cy="263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Firebase Firestore ensures instant sync across all users and devices.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4200" y="5223173"/>
            <a:ext cx="10723294" cy="904577"/>
          </a:xfrm>
          <a:prstGeom prst="roundRect">
            <a:avLst>
              <a:gd name="adj" fmla="val 29571"/>
            </a:avLst>
          </a:prstGeom>
          <a:solidFill>
            <a:srgbClr val="00805A"/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2492" y="5467747"/>
            <a:ext cx="222840" cy="178296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313623" y="5419229"/>
            <a:ext cx="9965580" cy="5276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SmartTicket AI reduces human error in ticket assignment, shortens resolution times, and frees support staff to focus on solving problems — not sorting them.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4200" y="654050"/>
            <a:ext cx="786090" cy="270966"/>
          </a:xfrm>
          <a:prstGeom prst="roundRect">
            <a:avLst>
              <a:gd name="adj" fmla="val 49999"/>
            </a:avLst>
          </a:prstGeom>
          <a:solidFill>
            <a:srgbClr val="004D36"/>
          </a:solidFill>
          <a:ln/>
        </p:spPr>
      </p:sp>
      <p:sp>
        <p:nvSpPr>
          <p:cNvPr id="3" name="Text 1"/>
          <p:cNvSpPr/>
          <p:nvPr/>
        </p:nvSpPr>
        <p:spPr>
          <a:xfrm>
            <a:off x="841156" y="707529"/>
            <a:ext cx="1181765" cy="1640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SPRINT 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4200" y="985639"/>
            <a:ext cx="10723294" cy="495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Week 8 – Deployment &amp; Optimisation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734200" y="1708249"/>
            <a:ext cx="10723294" cy="5276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      The final sprint focuses on refining, optimising, and deploying the       completed AI Business Operations Platform to ensure a seamless launch.     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4200" y="2406352"/>
            <a:ext cx="356583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4200" y="2683966"/>
            <a:ext cx="5285846" cy="25400"/>
          </a:xfrm>
          <a:prstGeom prst="rect">
            <a:avLst/>
          </a:prstGeom>
          <a:solidFill>
            <a:srgbClr val="16FFBB"/>
          </a:solidFill>
          <a:ln/>
        </p:spPr>
      </p:sp>
      <p:sp>
        <p:nvSpPr>
          <p:cNvPr id="8" name="Text 6"/>
          <p:cNvSpPr/>
          <p:nvPr/>
        </p:nvSpPr>
        <p:spPr>
          <a:xfrm>
            <a:off x="734200" y="2823865"/>
            <a:ext cx="5285846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Application Deployment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34200" y="3162399"/>
            <a:ext cx="5285846" cy="263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Deploy the platform to a secure cloud hosting environment.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171550" y="2406352"/>
            <a:ext cx="356583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71550" y="2683966"/>
            <a:ext cx="5285945" cy="25400"/>
          </a:xfrm>
          <a:prstGeom prst="rect">
            <a:avLst/>
          </a:prstGeom>
          <a:solidFill>
            <a:srgbClr val="29DDDA"/>
          </a:solidFill>
          <a:ln/>
        </p:spPr>
      </p:sp>
      <p:sp>
        <p:nvSpPr>
          <p:cNvPr id="12" name="Text 10"/>
          <p:cNvSpPr/>
          <p:nvPr/>
        </p:nvSpPr>
        <p:spPr>
          <a:xfrm>
            <a:off x="6171550" y="2823865"/>
            <a:ext cx="5285945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System Testing &amp; Resolution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171550" y="3162399"/>
            <a:ext cx="5285945" cy="5276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Conduct comprehensive system tests and address any remaining issues or bugs.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4200" y="3975298"/>
            <a:ext cx="356583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4200" y="4252913"/>
            <a:ext cx="5285846" cy="25400"/>
          </a:xfrm>
          <a:prstGeom prst="rect">
            <a:avLst/>
          </a:prstGeom>
          <a:solidFill>
            <a:srgbClr val="37A7E7"/>
          </a:solidFill>
          <a:ln/>
        </p:spPr>
      </p:sp>
      <p:sp>
        <p:nvSpPr>
          <p:cNvPr id="16" name="Text 14"/>
          <p:cNvSpPr/>
          <p:nvPr/>
        </p:nvSpPr>
        <p:spPr>
          <a:xfrm>
            <a:off x="734200" y="4392811"/>
            <a:ext cx="5285846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Performance Optimisation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734200" y="4731345"/>
            <a:ext cx="5285846" cy="5276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Enhance application performance, reliability, and overall user experience.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71550" y="3975298"/>
            <a:ext cx="356583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71550" y="4252913"/>
            <a:ext cx="5285945" cy="25400"/>
          </a:xfrm>
          <a:prstGeom prst="rect">
            <a:avLst/>
          </a:prstGeom>
          <a:solidFill>
            <a:srgbClr val="091231"/>
          </a:solidFill>
          <a:ln/>
        </p:spPr>
      </p:sp>
      <p:sp>
        <p:nvSpPr>
          <p:cNvPr id="20" name="Text 18"/>
          <p:cNvSpPr/>
          <p:nvPr/>
        </p:nvSpPr>
        <p:spPr>
          <a:xfrm>
            <a:off x="6171550" y="4392811"/>
            <a:ext cx="5285945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Integration Verification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171550" y="4731345"/>
            <a:ext cx="5285945" cy="5276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Confirm full integration and functionality of AI, databases, and external APIs.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34200" y="5563195"/>
            <a:ext cx="10723294" cy="640755"/>
          </a:xfrm>
          <a:prstGeom prst="roundRect">
            <a:avLst>
              <a:gd name="adj" fmla="val 41747"/>
            </a:avLst>
          </a:prstGeom>
          <a:solidFill>
            <a:srgbClr val="183A13"/>
          </a:solidFill>
          <a:ln/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2492" y="5807770"/>
            <a:ext cx="222840" cy="178296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313623" y="5759252"/>
            <a:ext cx="10575164" cy="263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        Expected Outcome: A secure, stable, and production-ready AI Business Operations Platform, accessible via a live deployment.       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306086" y="632123"/>
            <a:ext cx="752952" cy="191095"/>
          </a:xfrm>
          <a:prstGeom prst="roundRect">
            <a:avLst>
              <a:gd name="adj" fmla="val 49999"/>
            </a:avLst>
          </a:prstGeom>
          <a:solidFill>
            <a:srgbClr val="004D36"/>
          </a:solidFill>
          <a:ln/>
        </p:spPr>
      </p:sp>
      <p:sp>
        <p:nvSpPr>
          <p:cNvPr id="4" name="Text 1"/>
          <p:cNvSpPr/>
          <p:nvPr/>
        </p:nvSpPr>
        <p:spPr>
          <a:xfrm>
            <a:off x="5381490" y="669826"/>
            <a:ext cx="1211728" cy="115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WHAT'S NEXT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5306086" y="853281"/>
            <a:ext cx="6151409" cy="349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Built for Scale. Designed for the Future.</a:t>
            </a:r>
            <a:endParaRPr lang="en-US" sz="2150" dirty="0"/>
          </a:p>
        </p:txBody>
      </p:sp>
      <p:sp>
        <p:nvSpPr>
          <p:cNvPr id="6" name="Shape 3"/>
          <p:cNvSpPr/>
          <p:nvPr/>
        </p:nvSpPr>
        <p:spPr>
          <a:xfrm>
            <a:off x="5306086" y="1315442"/>
            <a:ext cx="6151409" cy="1109762"/>
          </a:xfrm>
          <a:prstGeom prst="roundRect">
            <a:avLst>
              <a:gd name="adj" fmla="val 16992"/>
            </a:avLst>
          </a:prstGeom>
          <a:solidFill>
            <a:srgbClr val="0A081B"/>
          </a:solidFill>
          <a:ln w="12700">
            <a:solidFill>
              <a:srgbClr val="16FFB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44493" y="1453852"/>
            <a:ext cx="377121" cy="377130"/>
          </a:xfrm>
          <a:prstGeom prst="ellipse">
            <a:avLst/>
          </a:prstGeom>
          <a:solidFill>
            <a:srgbClr val="16FFB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8174" y="1557536"/>
            <a:ext cx="169660" cy="16966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44493" y="1906290"/>
            <a:ext cx="5874595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Voice Submission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5444493" y="2126059"/>
            <a:ext cx="5874595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Submit tickets by speaking — ideal for mobile and accessibility.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5306086" y="2500511"/>
            <a:ext cx="6151409" cy="1109762"/>
          </a:xfrm>
          <a:prstGeom prst="roundRect">
            <a:avLst>
              <a:gd name="adj" fmla="val 16992"/>
            </a:avLst>
          </a:prstGeom>
          <a:solidFill>
            <a:srgbClr val="0A081B"/>
          </a:solidFill>
          <a:ln w="12700">
            <a:solidFill>
              <a:srgbClr val="29DDD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5444493" y="2638921"/>
            <a:ext cx="377121" cy="377130"/>
          </a:xfrm>
          <a:prstGeom prst="ellipse">
            <a:avLst/>
          </a:prstGeom>
          <a:solidFill>
            <a:srgbClr val="29DDDA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48174" y="2742605"/>
            <a:ext cx="169660" cy="16966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444493" y="3091359"/>
            <a:ext cx="5874595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Multilingual Support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5444493" y="3311128"/>
            <a:ext cx="5874595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Break down language barriers with AI-powered translation.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5306086" y="3685580"/>
            <a:ext cx="6151409" cy="1109762"/>
          </a:xfrm>
          <a:prstGeom prst="roundRect">
            <a:avLst>
              <a:gd name="adj" fmla="val 16992"/>
            </a:avLst>
          </a:prstGeom>
          <a:solidFill>
            <a:srgbClr val="0A081B"/>
          </a:solidFill>
          <a:ln w="12700">
            <a:solidFill>
              <a:srgbClr val="37A7E7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5444493" y="3823990"/>
            <a:ext cx="377121" cy="377130"/>
          </a:xfrm>
          <a:prstGeom prst="ellipse">
            <a:avLst/>
          </a:prstGeom>
          <a:solidFill>
            <a:srgbClr val="37A7E7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48174" y="3927673"/>
            <a:ext cx="169660" cy="16966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444493" y="4276427"/>
            <a:ext cx="5874595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WhatsApp Integration</a:t>
            </a:r>
            <a:endParaRPr lang="en-US" sz="1050" dirty="0"/>
          </a:p>
        </p:txBody>
      </p:sp>
      <p:sp>
        <p:nvSpPr>
          <p:cNvPr id="20" name="Text 14"/>
          <p:cNvSpPr/>
          <p:nvPr/>
        </p:nvSpPr>
        <p:spPr>
          <a:xfrm>
            <a:off x="5444493" y="4496197"/>
            <a:ext cx="5874595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Submit and track tickets directly through WhatsApp.</a:t>
            </a:r>
            <a:endParaRPr lang="en-US" sz="950" dirty="0"/>
          </a:p>
        </p:txBody>
      </p:sp>
      <p:sp>
        <p:nvSpPr>
          <p:cNvPr id="21" name="Shape 15"/>
          <p:cNvSpPr/>
          <p:nvPr/>
        </p:nvSpPr>
        <p:spPr>
          <a:xfrm>
            <a:off x="5306086" y="4870648"/>
            <a:ext cx="6151409" cy="1109762"/>
          </a:xfrm>
          <a:prstGeom prst="roundRect">
            <a:avLst>
              <a:gd name="adj" fmla="val 16992"/>
            </a:avLst>
          </a:prstGeom>
          <a:solidFill>
            <a:srgbClr val="0A081B"/>
          </a:solidFill>
          <a:ln w="12700">
            <a:solidFill>
              <a:srgbClr val="091231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5444493" y="5009059"/>
            <a:ext cx="377121" cy="377130"/>
          </a:xfrm>
          <a:prstGeom prst="ellipse">
            <a:avLst/>
          </a:prstGeom>
          <a:solidFill>
            <a:srgbClr val="091231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48174" y="5112742"/>
            <a:ext cx="169660" cy="16966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444493" y="5461496"/>
            <a:ext cx="5874595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Enterprise Integrations</a:t>
            </a:r>
            <a:endParaRPr lang="en-US" sz="1050" dirty="0"/>
          </a:p>
        </p:txBody>
      </p:sp>
      <p:sp>
        <p:nvSpPr>
          <p:cNvPr id="25" name="Text 18"/>
          <p:cNvSpPr/>
          <p:nvPr/>
        </p:nvSpPr>
        <p:spPr>
          <a:xfrm>
            <a:off x="5444493" y="5681266"/>
            <a:ext cx="5874595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Connect with Microsoft 365, Jira, ServiceNow, and SAP.</a:t>
            </a:r>
            <a:endParaRPr lang="en-US" sz="950" dirty="0"/>
          </a:p>
        </p:txBody>
      </p:sp>
      <p:sp>
        <p:nvSpPr>
          <p:cNvPr id="26" name="Text 19"/>
          <p:cNvSpPr/>
          <p:nvPr/>
        </p:nvSpPr>
        <p:spPr>
          <a:xfrm>
            <a:off x="5306086" y="6065143"/>
            <a:ext cx="6760993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Partner with us to shape the roadmap and bring SmartTicket AI to your organisation.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2353171"/>
            <a:ext cx="10723294" cy="1165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7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Thank You</a:t>
            </a:r>
            <a:endParaRPr lang="en-US" sz="7300" dirty="0"/>
          </a:p>
        </p:txBody>
      </p:sp>
      <p:sp>
        <p:nvSpPr>
          <p:cNvPr id="3" name="Text 1"/>
          <p:cNvSpPr/>
          <p:nvPr/>
        </p:nvSpPr>
        <p:spPr>
          <a:xfrm>
            <a:off x="734200" y="3833316"/>
            <a:ext cx="10723294" cy="671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We appreciate your time and attention today. Let’s connect to discuss how SmartTicket AI can transform your operations.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773517851BA984FAD0612E65147D01E" ma:contentTypeVersion="10" ma:contentTypeDescription="Create a new document." ma:contentTypeScope="" ma:versionID="042bb9d94aa0b50b8cf05908e63995bd">
  <xsd:schema xmlns:xsd="http://www.w3.org/2001/XMLSchema" xmlns:xs="http://www.w3.org/2001/XMLSchema" xmlns:p="http://schemas.microsoft.com/office/2006/metadata/properties" xmlns:ns2="c444aacc-0888-4575-ba10-625f6954c444" targetNamespace="http://schemas.microsoft.com/office/2006/metadata/properties" ma:root="true" ma:fieldsID="41b87193f0d7e0121dd2afb82deb57e1" ns2:_="">
    <xsd:import namespace="c444aacc-0888-4575-ba10-625f6954c44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444aacc-0888-4575-ba10-625f6954c44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366b7f75-f62d-4b7a-b8a1-4b1a340ee17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444aacc-0888-4575-ba10-625f6954c444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CF0BE40A-C6CB-4632-8B1C-389ABC1259C6}"/>
</file>

<file path=customXml/itemProps2.xml><?xml version="1.0" encoding="utf-8"?>
<ds:datastoreItem xmlns:ds="http://schemas.openxmlformats.org/officeDocument/2006/customXml" ds:itemID="{A40A559A-2A42-4C3C-9917-1F4A275E7EF4}"/>
</file>

<file path=customXml/itemProps3.xml><?xml version="1.0" encoding="utf-8"?>
<ds:datastoreItem xmlns:ds="http://schemas.openxmlformats.org/officeDocument/2006/customXml" ds:itemID="{4EEE9EDB-09FE-49A3-8C5D-E80BBC6239C1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2026-07-30T12:46:58Z</dcterms:created>
  <dcterms:modified xsi:type="dcterms:W3CDTF">2026-07-30T12:46:58Z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0x010100A773517851BA984FAD0612E65147D01E</vt:lpwstr>
  </property>
</Properties>
</file>